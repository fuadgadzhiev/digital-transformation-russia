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Gelasio" pitchFamily="2" charset="0"/>
      <p:regular r:id="rId13"/>
    </p:embeddedFont>
    <p:embeddedFont>
      <p:font typeface="Gelasio Semi Bold" pitchFamily="2" charset="0"/>
      <p:regular r:id="rId14"/>
      <p:bold r:id="rId15"/>
    </p:embeddedFont>
    <p:embeddedFont>
      <p:font typeface="Noto Serif" panose="02020600060500020200" pitchFamily="18" charset="0"/>
      <p:regular r:id="rId16"/>
      <p:bold r:id="rId17"/>
      <p:italic r:id="rId18"/>
      <p:boldItalic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97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2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3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3CCF37-C890-F65F-AA3A-093F0839AA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8167EE5-8594-0A9E-4799-09AB366E4B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CBB9FB-4D6D-4EAF-164D-F5C81F727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6383EFB-45F0-C4F5-4CDE-CE9095AAF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E404E4-072C-8E37-9081-D7D337AF2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794649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09CFB6-D9AD-5532-30D6-10B551B8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D82DE7-9D8E-C7BF-994B-547EC0E88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D9B85C-347F-90D5-B8F6-8D4250D82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FF9837-7B58-0CE4-D84E-19542EA0A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A4E804-514B-830E-7024-A181606F2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18165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65C464-0D02-EFDE-5336-49A237E11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965D22-10F3-D91D-AD9E-2170A35F4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5621D5-4962-1670-6F2B-BA5C4A112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3B6CD8-A6D0-98B8-07E9-8AA05781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19E464-DAD3-1F43-6414-CA3FB347E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095844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627F44-F4C9-50C9-2CEA-87497264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F25D31-2BFD-F336-243B-926E6BCDC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E5EEB45-DACA-A00D-395F-14CC80DD8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83CF9CD-BFC3-E742-6601-5C286DB21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90C935E-942A-88F3-687D-A679DCA79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26E5051-CBBD-9A98-4EDA-117E8621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76108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03AEE-857A-59EC-6924-B70E9A73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FE45DC0-AF76-E3D3-4918-864377D5C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993EDE1-9742-B8A4-991E-643E13245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4E978BD-0A26-5E27-27AE-BDBE9AE285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450445DA-9B41-7BDE-D04B-D87474FBA6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058BD8-F299-AE67-328F-276F5FE8A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CE0DF6B-6F2C-2EDC-491D-266B8FD7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953F413-CDB1-EE79-03B7-5A0B2FDE4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709557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41EF9A-4A4C-2D1C-9644-C7959F8EA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22F4FD2-B4BC-2ED8-0853-5F8DEC110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BCA2C20-185B-5C1A-66F8-144F18E51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080453A-D103-C49F-D151-040BCCCBF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43159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98611B2-FF1D-AD65-5D86-87C7AFA74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B272298-7F50-71DF-3555-ABE36F0B2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F1B235A-E851-016C-FD03-7EF83BB8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6840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DD8AAC-D32D-F91C-DDF3-1A9927793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1801CB-EE77-3DCB-D795-83331C274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5C3263E-DEDD-30B3-C586-CE19C33E66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FDC12E-4F40-6C50-A0D7-AF9CFBDEE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A153E08-71F6-4523-6D2A-730D3DB39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77E04D-995D-F894-30AF-5EC108B28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143649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A053E8-F587-F0B0-6E73-83BBFAD33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171D298-D30C-A42D-31BD-190DB3901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F8FA0C5-7BA9-9AFB-3DB1-E52F2DC5DA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909BE3-5511-F54F-247A-92DFC5634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66A602-986F-36AC-36E6-05D0A9F8A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C0C8D44-39E5-C3E6-C48C-DAFD580EF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04522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BF22FA-51CE-B43B-D896-28FE763D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16A4F81-8E1E-716D-C2BB-D5F02A52D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D69FE8-7257-4750-4987-0BE1CDED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D0D314-1A1E-94BA-75F7-E9ABADF9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10C06F-F8B0-8508-4E5C-516C35D5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776557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2B0E432-33FA-41DF-0DB4-F29682D44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8AE864-B634-3A14-D6F2-C02DC44AD0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5AE657-E61C-4E15-4136-525614438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FC23C0-1686-DBB8-2CAB-C89ED9F38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4BF36D-B067-136F-0A7B-90908F271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100108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068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4952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319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162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89568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78304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8558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8831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73430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2280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206F46-5898-8A66-D4C4-CE599C8E6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02CAC38-29BF-CB02-A6FE-71350092C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52558D-4EB5-AB2A-6F3F-631E48AB20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5F2DE0-E365-5D4A-B622-47476BCB87DF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459752-0416-969A-1BC0-171D88CC4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24763A-0F9E-6624-C32C-070EA943B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172C48-0B83-0548-9465-C1ABD4F1A1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142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sv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793790" y="1629370"/>
            <a:ext cx="13210309" cy="372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Эконометрическое моделирование влияния цифровой трансформации организаций на региональное экономическое развитие Российской Федерации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793790" y="5647492"/>
            <a:ext cx="7556421" cy="1704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ru-RU" sz="1600" b="1" dirty="0">
                <a:solidFill>
                  <a:srgbClr val="746558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Студент:</a:t>
            </a:r>
            <a:r>
              <a:rPr lang="ru-RU" sz="1600" dirty="0">
                <a:solidFill>
                  <a:srgbClr val="746558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</a:t>
            </a:r>
            <a:r>
              <a:rPr lang="ru-RU" sz="1550" dirty="0">
                <a:solidFill>
                  <a:srgbClr val="746558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Гаджиев Фуад Габилович</a:t>
            </a:r>
            <a:br>
              <a:rPr lang="ru-RU" sz="1550" dirty="0">
                <a:solidFill>
                  <a:srgbClr val="746558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</a:br>
            <a:br>
              <a:rPr lang="ru-RU" sz="1550" dirty="0">
                <a:solidFill>
                  <a:srgbClr val="746558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</a:br>
            <a:r>
              <a:rPr lang="en-US" sz="1600" b="1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Руководитель</a:t>
            </a:r>
            <a:r>
              <a:rPr lang="en-US" sz="1600" b="1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: </a:t>
            </a:r>
            <a:r>
              <a:rPr lang="en-US" sz="1600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к.э.н</a:t>
            </a:r>
            <a:r>
              <a:rPr lang="en-US" sz="1600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., </a:t>
            </a:r>
            <a:r>
              <a:rPr lang="en-US" sz="1600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доц</a:t>
            </a:r>
            <a:r>
              <a:rPr lang="en-US" sz="1600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. </a:t>
            </a:r>
            <a:r>
              <a:rPr lang="en-US" sz="1600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Писарева</a:t>
            </a:r>
            <a:r>
              <a:rPr lang="en-US" sz="1600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О.М.</a:t>
            </a:r>
            <a:endParaRPr lang="en-US" sz="16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ru-RU" sz="155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>
              <a:lnSpc>
                <a:spcPts val="2500"/>
              </a:lnSpc>
            </a:pPr>
            <a:r>
              <a:rPr lang="en-US" sz="1600" b="1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Дата</a:t>
            </a:r>
            <a:r>
              <a:rPr lang="en-US" sz="1600" b="1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</a:t>
            </a:r>
            <a:r>
              <a:rPr lang="en-US" sz="1600" b="1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защиты</a:t>
            </a:r>
            <a:r>
              <a:rPr lang="en-US" sz="1600" b="1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: </a:t>
            </a:r>
            <a:r>
              <a:rPr lang="en-US" sz="1600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«26» </a:t>
            </a:r>
            <a:r>
              <a:rPr lang="en-US" sz="1600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ноября</a:t>
            </a:r>
            <a:r>
              <a:rPr lang="en-US" sz="1600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 2025 </a:t>
            </a:r>
            <a:r>
              <a:rPr lang="en-US" sz="1600" dirty="0" err="1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г</a:t>
            </a:r>
            <a:r>
              <a:rPr lang="en-US" sz="1600" dirty="0">
                <a:solidFill>
                  <a:srgbClr val="4C4C4C"/>
                </a:solidFill>
                <a:latin typeface="Noto Serif" panose="02020600060500020200" pitchFamily="18" charset="0"/>
                <a:ea typeface="Noto Serif" panose="02020600060500020200" pitchFamily="18" charset="0"/>
                <a:cs typeface="Noto Serif" panose="02020600060500020200" pitchFamily="18" charset="0"/>
              </a:rPr>
              <a:t>.</a:t>
            </a:r>
            <a:endParaRPr lang="en-US" sz="160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  <a:p>
            <a:pPr marL="0" indent="0" algn="l">
              <a:lnSpc>
                <a:spcPts val="2500"/>
              </a:lnSpc>
              <a:buNone/>
            </a:pPr>
            <a:endParaRPr lang="en-US" sz="1550" dirty="0">
              <a:latin typeface="Noto Serif" panose="02020600060500020200" pitchFamily="18" charset="0"/>
              <a:ea typeface="Noto Serif" panose="02020600060500020200" pitchFamily="18" charset="0"/>
              <a:cs typeface="Noto Serif" panose="02020600060500020200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492"/>
            <a:ext cx="68060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Актуальность исследования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909405"/>
            <a:ext cx="4215289" cy="3048714"/>
          </a:xfrm>
          <a:prstGeom prst="roundRect">
            <a:avLst>
              <a:gd name="adj" fmla="val 97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992148" y="2107763"/>
            <a:ext cx="322742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Национальный приоритет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2536984"/>
            <a:ext cx="3818573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Цифровая трансформация — один из национальных приоритетов развития РФ до 2030 года. Бюджет национального проекта "Экономика данных и цифровая трансформация государства" составляет до 2,7 трлн рублей.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1909405"/>
            <a:ext cx="4215408" cy="3048714"/>
          </a:xfrm>
          <a:prstGeom prst="roundRect">
            <a:avLst>
              <a:gd name="adj" fmla="val 97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405795" y="21077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Рост инвестиций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5795" y="2536984"/>
            <a:ext cx="38186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За последние четыре года инвестиции российских компаний в цифровые технологии выросли более чем на 80%, достигнув свыше 4 трлн рублей.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1909405"/>
            <a:ext cx="4215289" cy="3048714"/>
          </a:xfrm>
          <a:prstGeom prst="roundRect">
            <a:avLst>
              <a:gd name="adj" fmla="val 97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9819561" y="21077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Научная новизна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561" y="2536984"/>
            <a:ext cx="381857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Влияние конкретных цифровых технологий (ИИ, большие данные, облачные сервисы) на региональное развитие изучено недостаточно глубоко. Требуется детализированный анализ.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379720"/>
            <a:ext cx="349841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Проблема неравномерности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93790" y="588823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Неравномерность цифрового развития российских регионов создает необходимость в выявлении ключевых факторов цифровой трансформации, влияющих на экономический рост.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564874" y="5379720"/>
            <a:ext cx="325683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Методологический подход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564874" y="5888236"/>
            <a:ext cx="6279356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Использование детализированных показателей внедрения передовых цифровых технологий в сочетании с эконометрическим моделированием панельных данных позволяет получить более точные оценки эффективности.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1158" y="475774"/>
            <a:ext cx="5049441" cy="5400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Проверяемые гипотезы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1158" y="1361361"/>
            <a:ext cx="172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1158" y="1632109"/>
            <a:ext cx="6537603" cy="2286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691158" y="1764149"/>
            <a:ext cx="2576632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Основная гипотеза (H₁)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91158" y="2137648"/>
            <a:ext cx="6537603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Все восемь коэффициентов при переменных цифровой трансформации статистически значимо больше нуля: β₁, β₂, ..., β₈ &gt; 0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01520" y="1361361"/>
            <a:ext cx="172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02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401520" y="1632109"/>
            <a:ext cx="6537722" cy="2286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7401520" y="1764149"/>
            <a:ext cx="3904298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Дифференцированное влияние (H₂)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401520" y="2137648"/>
            <a:ext cx="6537722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Коэффициенты при передовых технологиях (больших данных, IoT, ИИ) статистически значимо больше коэффициентов при базовых технологиях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91158" y="2992636"/>
            <a:ext cx="172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91158" y="3263384"/>
            <a:ext cx="6537603" cy="2286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691158" y="3395424"/>
            <a:ext cx="2873097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Нелинейные эффекты (H₃)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1158" y="3768923"/>
            <a:ext cx="6537603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Коэффициенты при квадратичных терминах и терминах взаимодействия статистически значимы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01520" y="2992636"/>
            <a:ext cx="172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401520" y="3263384"/>
            <a:ext cx="6537722" cy="2286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401520" y="3395424"/>
            <a:ext cx="422195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Пространственная гетерогенность (H₄)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401520" y="3768923"/>
            <a:ext cx="6537722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Коэффициенты различаются между группами регионов (высокоразвитые vs низкоразвитые)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91158" y="4623911"/>
            <a:ext cx="172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91158" y="4894659"/>
            <a:ext cx="6537603" cy="2286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691158" y="5026700"/>
            <a:ext cx="2827496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Временная динамика (H₅)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1158" y="5400199"/>
            <a:ext cx="6537603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Коэффициенты при лаговых переменных статистически значимы, эффект накапливается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1520" y="4623911"/>
            <a:ext cx="172760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Light" pitchFamily="34" charset="0"/>
                <a:ea typeface="Gelasio Light" pitchFamily="34" charset="-122"/>
                <a:cs typeface="Gelasio Light" pitchFamily="34" charset="-120"/>
              </a:rPr>
              <a:t>06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401520" y="4894659"/>
            <a:ext cx="6537722" cy="22860"/>
          </a:xfrm>
          <a:prstGeom prst="rect">
            <a:avLst/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3"/>
          <p:cNvSpPr/>
          <p:nvPr/>
        </p:nvSpPr>
        <p:spPr>
          <a:xfrm>
            <a:off x="7401520" y="5026700"/>
            <a:ext cx="2696051" cy="2699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Пороговые эффекты (H₆)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401520" y="5400199"/>
            <a:ext cx="6537722" cy="55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Существует пороговое значение, при превышении которого эффект усиливается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91158" y="6341626"/>
            <a:ext cx="5532477" cy="323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Ожидаемые результаты по коэффициентам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91158" y="6924794"/>
            <a:ext cx="13248084" cy="82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Исходя из набора переменных, ожидается следующая иерархия эффектов: β₅ (AI) — максимальный эффект, β₃ (BIGDATA) — очень сильный эффект, β₂ (CLOUD) — сильный положительный эффект, β₆ (PLATFORM) — сильный положительный эффект, β₄ (IoT) — умеренно сильный эффект, β₈ (EDI) — умеренный положительный эффект, β₁ (PC) — относительно небольшой эффект, β₇ (WEBSITE) — минимальный среди всех.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4127" y="563404"/>
            <a:ext cx="7547372" cy="49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Методология и первичные результаты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34127" y="1375886"/>
            <a:ext cx="13362146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Исследование проводилось на основе данных по 82 субъектам Российской Федерации с использованием восьми ключевых показателей цифровой трансформации, включающих как базовые (персональные компьютеры, веб-сайты), так и передовые технологии (искусственный интеллект, большие данные, интернет вещей).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34127" y="2061686"/>
            <a:ext cx="13362146" cy="673537"/>
          </a:xfrm>
          <a:prstGeom prst="roundRect">
            <a:avLst>
              <a:gd name="adj" fmla="val 3531"/>
            </a:avLst>
          </a:prstGeom>
          <a:solidFill>
            <a:srgbClr val="E2D9C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599" y="2288619"/>
            <a:ext cx="198120" cy="158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9191" y="2259687"/>
            <a:ext cx="1268861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Спецификация модели:</a:t>
            </a:r>
            <a:r>
              <a:rPr lang="en-US" sz="12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GRP_INDEX_i = α + β₁PC_i + β₂CLOUD_i + β₃BIGDATA_i + β₄IoT_i + β₅AI_i + β₆PLATFORM_i + β₇WEBSITE_i + β₈EDI_i + ε_i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34127" y="2972991"/>
            <a:ext cx="2934295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Корреляционный анализ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34127" y="3650575"/>
            <a:ext cx="7862530" cy="507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Результаты корреляционного анализа выявили неожиданную особенность — все показатели цифровизации демонстрируют </a:t>
            </a:r>
            <a:r>
              <a:rPr lang="en-US" sz="1200" dirty="0">
                <a:solidFill>
                  <a:srgbClr val="746558"/>
                </a:solidFill>
                <a:highlight>
                  <a:srgbClr val="D3C5B6"/>
                </a:highlight>
                <a:latin typeface="Gelasio" pitchFamily="34" charset="0"/>
                <a:ea typeface="Gelasio" pitchFamily="34" charset="-122"/>
                <a:cs typeface="Gelasio" pitchFamily="34" charset="-120"/>
              </a:rPr>
              <a:t>отрицательную корреляцию</a:t>
            </a: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с индексом ВРП.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34127" y="4300657"/>
            <a:ext cx="786253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Наиболее сильная отрицательная связь: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34127" y="4697016"/>
            <a:ext cx="786253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Персональные компьютеры: r = -0.363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34127" y="5006221"/>
            <a:ext cx="786253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Электронный обмен данными: r = -0.313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34127" y="5402580"/>
            <a:ext cx="786253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Более слабая корреляция у передовых технологий: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4127" y="5798939"/>
            <a:ext cx="786253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Искусственный интеллект: r = -0.094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34127" y="6108144"/>
            <a:ext cx="786253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Облачные сервисы: r = -0.099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4127" y="6417350"/>
            <a:ext cx="7862530" cy="253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Большие данные: r = -0.116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34127" y="6904911"/>
            <a:ext cx="13362146" cy="76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Между независимыми переменными обнаружены существенные корреляционные связи, что указывает на наличие мультиколлинеарности. Особенно высокие корреляции выявлены между IoT и большими данными (r = 0.821), IoT и цифровыми платформами (r = 0.834), а также между базовыми технологиями (корреляции от 0.761 до 0.796).</a:t>
            </a:r>
            <a:endParaRPr lang="en-US" sz="120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412FD0C-9D6E-59F9-00AB-65051D8A65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8468" y="2939932"/>
            <a:ext cx="4215048" cy="37311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994" y="492919"/>
            <a:ext cx="8037314" cy="5601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Результаты регрессионного анализа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16994" y="1501140"/>
            <a:ext cx="4249341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16.6%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1721287" y="2316599"/>
            <a:ext cx="224075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R² модели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16994" y="2704148"/>
            <a:ext cx="424934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Объяснение вариации зависимой переменной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190411" y="1501140"/>
            <a:ext cx="4249460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1.815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6194703" y="2316599"/>
            <a:ext cx="2240756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F-статистика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190411" y="2704148"/>
            <a:ext cx="4249460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p-значение = 0.0878 (незначима на уровне 5%)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63946" y="1501140"/>
            <a:ext cx="4249460" cy="591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4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4/8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10035778" y="2316599"/>
            <a:ext cx="3505795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Положительные коэффициенты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63946" y="2704148"/>
            <a:ext cx="4249460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Только половина показателей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6994" y="3259812"/>
            <a:ext cx="4514731" cy="33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Анализ коэффициентов регрессии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16994" y="4043839"/>
            <a:ext cx="3505795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Положительные коэффициенты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16994" y="4503063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Облачные сервисы: β = 0.182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6994" y="4852511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Веб-сайты: β = 0.105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6994" y="5201960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Искусственный интеллект: β = 0.006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6994" y="5551408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Цифровые платформы: β = 0.004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541419" y="4043839"/>
            <a:ext cx="3461861" cy="280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Отрицательные коэффициенты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541419" y="4503063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Интернет вещей: β = -0.400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541419" y="4852511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Персональные компьютеры: β = -0.207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541419" y="5201960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Электронный обмен данными: β = -0.106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541419" y="5551408"/>
            <a:ext cx="6379607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Большие данные: β = -0.033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6994" y="6102429"/>
            <a:ext cx="13196411" cy="8604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Наибольший по абсолютной величине эффект зафиксирован для интернета вещей, что может объясняться высоким значением фактора инфляции дисперсии (VIF = 6.796). Ни один из коэффициентов не достигает традиционного уровня значимости 5%. Наиболее близко к значимости подходит коэффициент для персональных компьютеров с p-значением 0.0975.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6994" y="7164467"/>
            <a:ext cx="13196411" cy="573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Гипотеза H₂ о превосходящем эффекте передовых технологий не находит подтверждения. Средний коэффициент для передовых технологий составляет -0.142, что оказывается даже ниже среднего коэффициента для базовых технологий (-0.051).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300" y="469821"/>
            <a:ext cx="6851571" cy="533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Сравнительный анализ моделей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683300" y="1345168"/>
            <a:ext cx="4307443" cy="2071807"/>
          </a:xfrm>
          <a:prstGeom prst="roundRect">
            <a:avLst>
              <a:gd name="adj" fmla="val 123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76895" y="1538764"/>
            <a:ext cx="3614023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Модель с базовыми технологиями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76895" y="1907977"/>
            <a:ext cx="3920252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R² = 0.132 (выше, чем у передовых технологий)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6895" y="2557105"/>
            <a:ext cx="3920252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Коэффициент для ПК статистически значим: β = -0.241, p = 0.019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161478" y="1345168"/>
            <a:ext cx="4307443" cy="2071807"/>
          </a:xfrm>
          <a:prstGeom prst="roundRect">
            <a:avLst>
              <a:gd name="adj" fmla="val 123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6"/>
          <p:cNvSpPr/>
          <p:nvPr/>
        </p:nvSpPr>
        <p:spPr>
          <a:xfrm>
            <a:off x="5355074" y="1538764"/>
            <a:ext cx="3890605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Модель с передовыми технологиями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55074" y="1907977"/>
            <a:ext cx="3920252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R² = 0.039 (ниже базовых)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55074" y="2283738"/>
            <a:ext cx="3920252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Отсутствие статистически значимых коэффициентов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39657" y="1345168"/>
            <a:ext cx="4307443" cy="2071807"/>
          </a:xfrm>
          <a:prstGeom prst="roundRect">
            <a:avLst>
              <a:gd name="adj" fmla="val 1237"/>
            </a:avLst>
          </a:prstGeom>
          <a:solidFill>
            <a:srgbClr val="F9F6F0"/>
          </a:solidFill>
          <a:ln w="22860">
            <a:solidFill>
              <a:srgbClr val="D4CEC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9833253" y="1538764"/>
            <a:ext cx="2135267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Парные регрессии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833253" y="1907977"/>
            <a:ext cx="3920252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Наивысшая объясняющая способность: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833253" y="2283738"/>
            <a:ext cx="3920252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ПК: R² = 0.132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33253" y="2616875"/>
            <a:ext cx="3920252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EDI: R² = 0.098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833253" y="2950012"/>
            <a:ext cx="3920252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Веб-сайты: R² = 0.070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3300" y="3673197"/>
            <a:ext cx="3764280" cy="320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Диагностика качества модели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3300" y="4420433"/>
            <a:ext cx="2135267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Тест Шапиро-Уилка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83300" y="4857988"/>
            <a:ext cx="642354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 = 0.989, p-значение = 0.740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3300" y="5285065"/>
            <a:ext cx="642354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Подтверждает нормальное распределение остатков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3300" y="5729168"/>
            <a:ext cx="2146578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Тест Бройша-Пагана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83300" y="6166723"/>
            <a:ext cx="642354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BP = 5.373, p-значение = 0.717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3300" y="6593800"/>
            <a:ext cx="642354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Отсутствие гетероскедастичности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31179" y="4420433"/>
            <a:ext cx="3275886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Анализ мультиколлинеарности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531179" y="4857988"/>
            <a:ext cx="642354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Максимальное VIF = 6.796 (IoT)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531179" y="5285065"/>
            <a:ext cx="642354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Остальные переменные: VIF от 1.776 до 4.366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531179" y="5712143"/>
            <a:ext cx="6423541" cy="273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Умеренный уровень корреляции между независимыми переменными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3300" y="7213044"/>
            <a:ext cx="13263801" cy="546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Модель с взаимодействием между искусственным интеллектом и большими данными не показала значительного улучшения качества подгонки. Коэффициент взаимодействия β_(AI×BIGDATA) = 0.020 оказался статистически незначимым (p-значение = 0.754), а R² модели практически не изменился.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5200" y="443508"/>
            <a:ext cx="5609630" cy="503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Интерпретация результатов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45200" y="1270040"/>
            <a:ext cx="13340001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Полученные результаты ставят под сомнение традиционные представления о безусловно положительном влиянии цифровизации на экономическое развитие регионов. Отрицательная корреляция между большинством показателей цифровых технологий и индексом ВРП может объясняться несколькими факторами.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200" y="1967746"/>
            <a:ext cx="806410" cy="1187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12821" y="2128957"/>
            <a:ext cx="2016204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Временной лаг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612821" y="2477572"/>
            <a:ext cx="12372380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Организации несут значительные первоначальные затраты на цифровую трансформацию, которые в краткосрочной перспективе снижают производительность и финансовые показатели.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200" y="3155037"/>
            <a:ext cx="806410" cy="11872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12821" y="3316248"/>
            <a:ext cx="2322195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Обратная причинность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1612821" y="3664863"/>
            <a:ext cx="12372380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 менее экономически развитых регионах организации активнее внедряют цифровые технологии в попытке компенсировать другие конкурентные недостатки.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200" y="4342328"/>
            <a:ext cx="806410" cy="11872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12821" y="4503539"/>
            <a:ext cx="2764988" cy="251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Комплементарные факторы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1612821" y="4852154"/>
            <a:ext cx="12372380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Эффективность цифровых технологий критически зависит от квалифицированных кадров, развитой ИТ-инфраструктуры и благоприятной институциональной среды.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45200" y="5771555"/>
            <a:ext cx="277665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Ключевые наблюдения</a:t>
            </a:r>
            <a:endParaRPr lang="en-US" sz="1900" dirty="0"/>
          </a:p>
        </p:txBody>
      </p:sp>
      <p:sp>
        <p:nvSpPr>
          <p:cNvPr id="14" name="Text 9"/>
          <p:cNvSpPr/>
          <p:nvPr/>
        </p:nvSpPr>
        <p:spPr>
          <a:xfrm>
            <a:off x="645200" y="6315908"/>
            <a:ext cx="13340001" cy="516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Передовые технологии (ИИ, большие данные, IoT) демонстрируют менее выраженную отрицательную корреляцию с ВРП по сравнению с базовыми технологиями. Это может указывать на то, что более сложные цифровые решения внедряются преимущественно в экономически сильных регионах.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45200" y="7013615"/>
            <a:ext cx="13340001" cy="774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Статистическая незначимость большинства коэффициентов свидетельствует о высокой неопределенности в оценке влияния цифровых технологий на региональное развитие. Относительно низкое значение R² указывает на важность других факторов регионального развития: географическое положение, ресурсная обеспеченность, человеческий капитал и институциональное качество.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018" y="358140"/>
            <a:ext cx="4129564" cy="4069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Анализ лаговых факторов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1018" y="1025604"/>
            <a:ext cx="13588365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Учитывая ограничения статической модели, анализ был расширен за счет использования лаговых значений цифровых показателей. Для каждого из восьми индикаторов были сформированы последовательности из трех лагов: текущий период (t), лаг первого порядка (t-1) и лаг второго порядка (t-2).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21018" y="1637705"/>
            <a:ext cx="3943112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Наиболее сильные отрицательные связи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21018" y="2077283"/>
            <a:ext cx="6729055" cy="1271588"/>
          </a:xfrm>
          <a:prstGeom prst="roundRect">
            <a:avLst>
              <a:gd name="adj" fmla="val 153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51272" y="2207538"/>
            <a:ext cx="390763" cy="390763"/>
          </a:xfrm>
          <a:prstGeom prst="roundRect">
            <a:avLst>
              <a:gd name="adj" fmla="val 2339803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8666" y="2314932"/>
            <a:ext cx="175855" cy="1758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1272" y="2728555"/>
            <a:ext cx="16281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PC_t1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51272" y="3010257"/>
            <a:ext cx="6468547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 = –0.382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80327" y="2077283"/>
            <a:ext cx="6729055" cy="1271588"/>
          </a:xfrm>
          <a:prstGeom prst="roundRect">
            <a:avLst>
              <a:gd name="adj" fmla="val 153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8"/>
          <p:cNvSpPr/>
          <p:nvPr/>
        </p:nvSpPr>
        <p:spPr>
          <a:xfrm>
            <a:off x="7510582" y="2207538"/>
            <a:ext cx="390763" cy="390763"/>
          </a:xfrm>
          <a:prstGeom prst="roundRect">
            <a:avLst>
              <a:gd name="adj" fmla="val 2339803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17976" y="2314932"/>
            <a:ext cx="175855" cy="17585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10582" y="2728555"/>
            <a:ext cx="16281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AI_t2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510582" y="3010257"/>
            <a:ext cx="6468547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 = –0.316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21018" y="3479125"/>
            <a:ext cx="6729055" cy="1271588"/>
          </a:xfrm>
          <a:prstGeom prst="roundRect">
            <a:avLst>
              <a:gd name="adj" fmla="val 153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2"/>
          <p:cNvSpPr/>
          <p:nvPr/>
        </p:nvSpPr>
        <p:spPr>
          <a:xfrm>
            <a:off x="651272" y="3609380"/>
            <a:ext cx="390763" cy="390763"/>
          </a:xfrm>
          <a:prstGeom prst="roundRect">
            <a:avLst>
              <a:gd name="adj" fmla="val 2339803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666" y="3716774"/>
            <a:ext cx="175855" cy="17585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272" y="4130397"/>
            <a:ext cx="16281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EDI_t2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51272" y="4412099"/>
            <a:ext cx="6468547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 = –0.339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7380327" y="3479125"/>
            <a:ext cx="6729055" cy="1271588"/>
          </a:xfrm>
          <a:prstGeom prst="roundRect">
            <a:avLst>
              <a:gd name="adj" fmla="val 1537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6"/>
          <p:cNvSpPr/>
          <p:nvPr/>
        </p:nvSpPr>
        <p:spPr>
          <a:xfrm>
            <a:off x="7510582" y="3609380"/>
            <a:ext cx="390763" cy="390763"/>
          </a:xfrm>
          <a:prstGeom prst="roundRect">
            <a:avLst>
              <a:gd name="adj" fmla="val 23398033"/>
            </a:avLst>
          </a:prstGeom>
          <a:solidFill>
            <a:srgbClr val="D3C5B6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17976" y="3716774"/>
            <a:ext cx="175855" cy="17585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10582" y="4130397"/>
            <a:ext cx="16281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PLATFORM_t1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10582" y="4412099"/>
            <a:ext cx="6468547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 = –0.212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521018" y="4897160"/>
            <a:ext cx="13588365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Для ряда передовых технологий, таких как искусственный интеллект и электронный обмен данными, наибольшее влияние проявляется со значительным временным лагом (t-2). Это подтверждает гипотезу H₅ о наличии накопленного, отложенного эффекта цифровизации.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21018" y="5509260"/>
            <a:ext cx="3324344" cy="244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Компактная динамическая модель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521018" y="5948839"/>
            <a:ext cx="13588365" cy="553403"/>
          </a:xfrm>
          <a:prstGeom prst="roundRect">
            <a:avLst>
              <a:gd name="adj" fmla="val 3531"/>
            </a:avLst>
          </a:prstGeom>
          <a:solidFill>
            <a:srgbClr val="E2D9C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1272" y="6134695"/>
            <a:ext cx="162758" cy="13025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44285" y="6111597"/>
            <a:ext cx="1303484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GDP_t = α + β₁PC_t1 + β₂CLOUD_t + β₃BIGDATA_t + β₄IoT_t + β₅AI_t2 + β₆PLATFORM_t1 + β₇WEBSITE_t + β₈EDI_t2 + ε_t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521018" y="6778943"/>
            <a:ext cx="16281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Улучшение модели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521018" y="7112794"/>
            <a:ext cx="663535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R² увеличился до 0.234 (против 0.166)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21018" y="7366635"/>
            <a:ext cx="663535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F-тест значим на уровне 1% (p = 0.0095)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521018" y="7620476"/>
            <a:ext cx="663535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PC_t1 значим на уровне 5%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7481649" y="6778943"/>
            <a:ext cx="1628180" cy="203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Ключевые выводы</a:t>
            </a:r>
            <a:endParaRPr lang="en-US" sz="1250" dirty="0"/>
          </a:p>
        </p:txBody>
      </p:sp>
      <p:sp>
        <p:nvSpPr>
          <p:cNvPr id="35" name="Text 28"/>
          <p:cNvSpPr/>
          <p:nvPr/>
        </p:nvSpPr>
        <p:spPr>
          <a:xfrm>
            <a:off x="7481649" y="7112794"/>
            <a:ext cx="663535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EDI_t2 и AI_t2 приближаются к значимости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481649" y="7366635"/>
            <a:ext cx="663535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Положительные эффекты CLOUD_t, PLATFORM_t1 сохраняются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7481649" y="7620476"/>
            <a:ext cx="663535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Отрицательное влияние базовых технологий усиливается при лаге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8154" y="321826"/>
            <a:ext cx="5288161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Оптимизация динамической модели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68154" y="921663"/>
            <a:ext cx="13694093" cy="374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Для более комплексной оценки была построена модель, включающая все лаги всех переменных (24 фактора). Однако полная модель продемонстрировала переобучение: R² = 0.320, но скорректированный R² = 0.034, экстремально высокая мультиколлинеарность (VIF от 15 до 42), ни один коэффициент не стал значимым.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68154" y="1471493"/>
            <a:ext cx="4317563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Модель после устранения мультиколлинеарности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68154" y="1866424"/>
            <a:ext cx="13694093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Применена процедура поэтапного исключения переменных (порог VIF = 10). В итоговую модель вошло 15 лаговых переменных.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981914" y="2945725"/>
            <a:ext cx="1439466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25%</a:t>
            </a:r>
            <a:endParaRPr lang="en-US" sz="2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918" y="2214324"/>
            <a:ext cx="1755577" cy="17555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70246" y="4116110"/>
            <a:ext cx="14630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R²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68154" y="4369118"/>
            <a:ext cx="4467225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Объясняющая способность модели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595348" y="2945725"/>
            <a:ext cx="1439466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8%</a:t>
            </a:r>
            <a:endParaRPr lang="en-US" sz="2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52" y="2214324"/>
            <a:ext cx="1755577" cy="17555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83680" y="4116110"/>
            <a:ext cx="14630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Скорр. R²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081587" y="4369118"/>
            <a:ext cx="4467225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 учетом числа параметров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08782" y="2945725"/>
            <a:ext cx="1439466" cy="292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2-9</a:t>
            </a:r>
            <a:endParaRPr lang="en-US" sz="2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0786" y="2214324"/>
            <a:ext cx="1755577" cy="175557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197114" y="4116110"/>
            <a:ext cx="146304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VIF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9695021" y="4369118"/>
            <a:ext cx="4467225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Допустимый диапазон значений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468154" y="4731782"/>
            <a:ext cx="3383399" cy="219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Оптимальная модель по критерию AIC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68154" y="5126712"/>
            <a:ext cx="13694093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Метод AIC позволил выявить наиболее компактную и статистически оптимальную модель из 24 факторов: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8154" y="5445443"/>
            <a:ext cx="13694093" cy="497086"/>
          </a:xfrm>
          <a:prstGeom prst="roundRect">
            <a:avLst>
              <a:gd name="adj" fmla="val 3532"/>
            </a:avLst>
          </a:prstGeom>
          <a:solidFill>
            <a:srgbClr val="E2D9C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192" y="5611058"/>
            <a:ext cx="146209" cy="1170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8439" y="5591651"/>
            <a:ext cx="13196768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GDP_t = α + PC_t + CLOUD_t1 + BIGDATA_t2 + AI_t2 + PLATFORM_t2 + EDI_t2 + ε_t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468154" y="6191131"/>
            <a:ext cx="1498878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Показатели качества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68154" y="6491049"/>
            <a:ext cx="6704290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R² = 0.261, скорр. R² = 0.202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468154" y="6719173"/>
            <a:ext cx="6704290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Модель значима на уровне 0.1% (p = 0.0007)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68154" y="6947297"/>
            <a:ext cx="6704290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Все значимые коэффициенты отрицательны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7465576" y="6191131"/>
            <a:ext cx="1856899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Значимые коэффициенты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7465576" y="6491049"/>
            <a:ext cx="6704290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PC_t (–)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7465576" y="6719173"/>
            <a:ext cx="6704290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BIGDATA_t2 (–)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465576" y="6947297"/>
            <a:ext cx="6704290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AI_t2 (–)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465576" y="7175421"/>
            <a:ext cx="6704290" cy="1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EDI_t2 (–)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68154" y="7535108"/>
            <a:ext cx="13694093" cy="374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9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QQ-плот остатков демонстрирует достаточно близкое соответствие распределения ошибок нормальному закону. Большая часть точек располагается вдоль диагональной линии, что подтверждает корректность предпосылки о нормальности ошибок. На концах графика наблюдаются умеренные отклонения, указывающие на наличие лёгкой «толстохвостости» распределения.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460" y="395168"/>
            <a:ext cx="6246852" cy="3471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Экономическая логика выявленных эффектов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4460" y="964525"/>
            <a:ext cx="1374147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Результаты динамического анализа позволяют глубже понять механизмы формирования влияния цифровой трансформации на региональные экономические показатели. Несмотря на то что цифровизация традиционно рассматривается как фактор роста эффективности, в региональном разрезе ее влияние оказывается гораздо более сложным и неоднозначным.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7307580" y="1444704"/>
            <a:ext cx="15240" cy="2168247"/>
          </a:xfrm>
          <a:prstGeom prst="roundRect">
            <a:avLst>
              <a:gd name="adj" fmla="val 109371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6872228" y="1561981"/>
            <a:ext cx="333256" cy="15240"/>
          </a:xfrm>
          <a:prstGeom prst="roundRect">
            <a:avLst>
              <a:gd name="adj" fmla="val 109371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190244" y="1444704"/>
            <a:ext cx="249912" cy="249912"/>
          </a:xfrm>
          <a:prstGeom prst="roundRect">
            <a:avLst>
              <a:gd name="adj" fmla="val 6670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231856" y="1465481"/>
            <a:ext cx="166568" cy="2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49422" y="1482804"/>
            <a:ext cx="281023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Фрагментарный характер цифровизации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44460" y="1722953"/>
            <a:ext cx="6315194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Цифровизация не интегрируется в производственные контуры. Региональные предприятия не имеют достаточной инфраструктуры, внедрение носит точечный характер, данные не используются для решения ключевых управленческих задач.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424916" y="2228612"/>
            <a:ext cx="333256" cy="15240"/>
          </a:xfrm>
          <a:prstGeom prst="roundRect">
            <a:avLst>
              <a:gd name="adj" fmla="val 109371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7190244" y="2111335"/>
            <a:ext cx="249912" cy="249912"/>
          </a:xfrm>
          <a:prstGeom prst="roundRect">
            <a:avLst>
              <a:gd name="adj" fmla="val 6670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231856" y="2132112"/>
            <a:ext cx="166568" cy="2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870746" y="2149435"/>
            <a:ext cx="2785229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Затратный характер на начальном этапе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870746" y="2389584"/>
            <a:ext cx="6315194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Модернизация сетевой инфраструктуры, закупка оборудования и лицензий, повышение требований к квалификации персонала, организационные издержки снижают производительность в краткосрочной перспективе.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872228" y="2803208"/>
            <a:ext cx="333256" cy="15240"/>
          </a:xfrm>
          <a:prstGeom prst="roundRect">
            <a:avLst>
              <a:gd name="adj" fmla="val 109371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190244" y="2685931"/>
            <a:ext cx="249912" cy="249912"/>
          </a:xfrm>
          <a:prstGeom prst="roundRect">
            <a:avLst>
              <a:gd name="adj" fmla="val 6670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231856" y="2706707"/>
            <a:ext cx="166568" cy="208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63904" y="2724031"/>
            <a:ext cx="2195751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Региональная дифференциация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4460" y="2964180"/>
            <a:ext cx="6315194" cy="532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Сильные регионы (Москва, Санкт-Петербург, Татарстан) обладают развитой ИТ-инфраструктурой и высоким уровнем человеческого капитала. Остальные регионы внедряют технологии «вдогонку», стремясь компенсировать структурные недостатки.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44460" y="3779520"/>
            <a:ext cx="271319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3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Феномен обратной причинности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4460" y="4154448"/>
            <a:ext cx="1374147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Лаговые коэффициенты по передовым технологиям AI_t2, BIGDATA_t2, EDI_t2 не только не становятся положительными, но зачастую оказываются ещё более отрицательными. Это поднимает вопрос о возможной обратной причинности: не цифровизация приводит к низким показателям экономического развития, а наоборот — региональные экономические трудности стимулируют ускоренное внедрение цифровых решений.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07580" y="4634627"/>
            <a:ext cx="15240" cy="2897148"/>
          </a:xfrm>
          <a:prstGeom prst="roundRect">
            <a:avLst>
              <a:gd name="adj" fmla="val 109371"/>
            </a:avLst>
          </a:prstGeom>
          <a:solidFill>
            <a:srgbClr val="D4CEC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Shape 21"/>
          <p:cNvSpPr/>
          <p:nvPr/>
        </p:nvSpPr>
        <p:spPr>
          <a:xfrm>
            <a:off x="429220" y="4634627"/>
            <a:ext cx="6870740" cy="817602"/>
          </a:xfrm>
          <a:prstGeom prst="roundRect">
            <a:avLst>
              <a:gd name="adj" fmla="val 2039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2"/>
          <p:cNvSpPr/>
          <p:nvPr/>
        </p:nvSpPr>
        <p:spPr>
          <a:xfrm>
            <a:off x="4786074" y="4745712"/>
            <a:ext cx="2402800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Экономические проблемы региона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40306" y="4985861"/>
            <a:ext cx="664856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Сокращение занятости, падение промышленного выпуска, снижение налоговых поступлений, отток квалифицированных кадров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330440" y="5674400"/>
            <a:ext cx="6870740" cy="817602"/>
          </a:xfrm>
          <a:prstGeom prst="rect">
            <a:avLst/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7441525" y="5785485"/>
            <a:ext cx="229588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Компенсационная цифровизация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41525" y="6025634"/>
            <a:ext cx="664856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Организации внедряют цифровые технологии для сокращения операционных расходов, замены труда автоматизированными решениями, оптимизации логистики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29220" y="6714173"/>
            <a:ext cx="6870740" cy="817602"/>
          </a:xfrm>
          <a:prstGeom prst="roundRect">
            <a:avLst>
              <a:gd name="adj" fmla="val 2039"/>
            </a:avLst>
          </a:prstGeom>
          <a:solidFill>
            <a:srgbClr val="EEE8DD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8"/>
          <p:cNvSpPr/>
          <p:nvPr/>
        </p:nvSpPr>
        <p:spPr>
          <a:xfrm>
            <a:off x="5591413" y="6825258"/>
            <a:ext cx="1597462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0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Статистический эффект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0306" y="7065407"/>
            <a:ext cx="6648569" cy="355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Модели фиксируют отрицательную корреляцию: чем хуже экономическая ситуация в регионе, тем активнее организации переходят к цифровизации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44460" y="7656671"/>
            <a:ext cx="13741479" cy="177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Цифровизация превращается в компенсационный инструмент, а не в стратегию развития. Этот феномен наблюдается и в международных исследованиях, особенно в развивающихся экономиках.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1873</Words>
  <Application>Microsoft Macintosh PowerPoint</Application>
  <PresentationFormat>Произвольный</PresentationFormat>
  <Paragraphs>185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8" baseType="lpstr">
      <vt:lpstr>Gelasio Semi Bold</vt:lpstr>
      <vt:lpstr>Aptos Display</vt:lpstr>
      <vt:lpstr>Gelasio</vt:lpstr>
      <vt:lpstr>Aptos</vt:lpstr>
      <vt:lpstr>Arial</vt:lpstr>
      <vt:lpstr>Noto Serif</vt:lpstr>
      <vt:lpstr>Gelasio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Гаджиев Фуад Габилович</cp:lastModifiedBy>
  <cp:revision>5</cp:revision>
  <dcterms:created xsi:type="dcterms:W3CDTF">2025-11-24T21:29:14Z</dcterms:created>
  <dcterms:modified xsi:type="dcterms:W3CDTF">2026-05-21T20:21:20Z</dcterms:modified>
</cp:coreProperties>
</file>